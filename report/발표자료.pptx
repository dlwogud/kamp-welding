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>
                <a:solidFill>
                  <a:srgbClr val="FFFFFF"/>
                </a:solidFill>
                <a:latin typeface="맑은 고딕"/>
              </a:rPr>
              <a:t>공정 결합관계 학습 기반 로봇용접 이상탐지</a:t>
            </a:r>
          </a:p>
          <a:p>
            <a:pPr>
              <a:spcBef>
                <a:spcPts val="800"/>
              </a:spcBef>
            </a:pPr>
            <a:r>
              <a:rPr sz="2000" b="0">
                <a:solidFill>
                  <a:srgbClr val="D6E4F0"/>
                </a:solidFill>
                <a:latin typeface="맑은 고딕"/>
              </a:rPr>
              <a:t>라벨 해상도 제약 하의 검증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212F3C"/>
                </a:solidFill>
                <a:latin typeface="맑은 고딕"/>
              </a:rPr>
              <a:t>제6회 K-인공지능 제조데이터 분석 경진대회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② 용접기 AI 데이터셋 — 용접불량 예측 및 안정 공정조건 분석</a:t>
            </a:r>
          </a:p>
          <a:p>
            <a:pPr>
              <a:spcBef>
                <a:spcPts val="1800"/>
              </a:spcBef>
            </a:pPr>
            <a:r>
              <a:rPr sz="1200" b="0">
                <a:solidFill>
                  <a:srgbClr val="212F3C"/>
                </a:solidFill>
                <a:latin typeface="맑은 고딕"/>
              </a:rPr>
              <a:t/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F3C"/>
                </a:solidFill>
                <a:latin typeface="맑은 고딕"/>
              </a:rPr>
              <a:t>팀명 :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F3C"/>
                </a:solidFill>
                <a:latin typeface="맑은 고딕"/>
              </a:rPr>
              <a:t>발표자 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2650159" cy="11430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11,939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용접점 (설명변수)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3391" y="5257800"/>
            <a:ext cx="2650159" cy="11430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8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불량 라벨 (작업일)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8142" y="5257800"/>
            <a:ext cx="2650159" cy="11430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0.971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합성이상 민감도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92893" y="5257800"/>
            <a:ext cx="2650159" cy="11430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0.899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외부 실제라벨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출제 요구사항과 데이터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지문은 세 가지를 요구한다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1F4E79"/>
                </a:solidFill>
                <a:latin typeface="맑은 고딕"/>
              </a:rPr>
              <a:t>① 최종 품질검사 이전에</a:t>
            </a:r>
          </a:p>
          <a:p>
            <a:pPr>
              <a:spcBef>
                <a:spcPts val="0"/>
              </a:spcBef>
            </a:pPr>
            <a:r>
              <a:rPr sz="1500" b="0">
                <a:solidFill>
                  <a:srgbClr val="212F3C"/>
                </a:solidFill>
                <a:latin typeface="맑은 고딕"/>
              </a:rPr>
              <a:t>    용접불량 여부를 예측하는 모델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1F4E79"/>
                </a:solidFill>
                <a:latin typeface="맑은 고딕"/>
              </a:rPr>
              <a:t>② 주요 용접조건과</a:t>
            </a:r>
          </a:p>
          <a:p>
            <a:pPr>
              <a:spcBef>
                <a:spcPts val="0"/>
              </a:spcBef>
            </a:pPr>
            <a:r>
              <a:rPr sz="1500" b="0">
                <a:solidFill>
                  <a:srgbClr val="212F3C"/>
                </a:solidFill>
                <a:latin typeface="맑은 고딕"/>
              </a:rPr>
              <a:t>    모델의 실패조건 분석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1F4E79"/>
                </a:solidFill>
                <a:latin typeface="맑은 고딕"/>
              </a:rPr>
              <a:t>③ 불량위험을 낮추는</a:t>
            </a:r>
          </a:p>
          <a:p>
            <a:pPr>
              <a:spcBef>
                <a:spcPts val="0"/>
              </a:spcBef>
            </a:pPr>
            <a:r>
              <a:rPr sz="1500" b="0">
                <a:solidFill>
                  <a:srgbClr val="212F3C"/>
                </a:solidFill>
                <a:latin typeface="맑은 고딕"/>
              </a:rPr>
              <a:t>    안정 공정조건 범위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830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212F3C"/>
                </a:solidFill>
                <a:latin typeface="맑은 고딕"/>
              </a:rPr>
              <a:t>제공 데이터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212F3C"/>
                </a:solidFill>
                <a:latin typeface="맑은 고딕"/>
              </a:rPr>
              <a:t>Raw data   11,939행 — 용접점별 공정조건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C0392B"/>
                </a:solidFill>
                <a:latin typeface="맑은 고딕"/>
              </a:rPr>
              <a:t>result          23행 — 작업일 × 불량유형 집계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scaled_data.csv — 라벨 없음, 스케일링본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5D6D7E"/>
                </a:solidFill>
                <a:latin typeface="맑은 고딕"/>
              </a:rPr>
              <a:t>설비 1종 · 품목 1종 · 두께 0.7mm 고정(분산 0)</a:t>
            </a:r>
          </a:p>
          <a:p>
            <a:pPr>
              <a:spcBef>
                <a:spcPts val="1800"/>
              </a:spcBef>
            </a:pPr>
            <a:r>
              <a:rPr sz="1500" b="1">
                <a:solidFill>
                  <a:srgbClr val="C0392B"/>
                </a:solidFill>
                <a:latin typeface="맑은 고딕"/>
              </a:rPr>
              <a:t>→ 착수 단계에서 라벨 구조부터 확인했다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발견 1 — 용접점 단위 불량 라벨이 없다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설명변수 11,939개 vs 라벨 8개</a:t>
            </a:r>
          </a:p>
        </p:txBody>
      </p:sp>
      <p:pic>
        <p:nvPicPr>
          <p:cNvPr id="5" name="Picture 4" descr="f3_label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83080"/>
            <a:ext cx="9601200" cy="33133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39건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라벨 총 건수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3391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8 작업일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라벨 유효 표본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8142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작업일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라벨 관측단위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92893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불가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용접점 단위 지도학습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발견 2 — 800점 구간이 네 작업일에 반복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전체 데이터의 26.8%. 2020-04-03 은 작업일 전체가 이 구간이다</a:t>
            </a:r>
          </a:p>
        </p:txBody>
      </p:sp>
      <p:pic>
        <p:nvPicPr>
          <p:cNvPr id="5" name="Picture 4" descr="f12_insert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760720" cy="226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828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212F3C"/>
                </a:solidFill>
                <a:latin typeface="맑은 고딕"/>
              </a:rPr>
              <a:t>확인된 사실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· 사전 기준 없이 연속 일치 구간을 직접 탐색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212F3C"/>
                </a:solidFill>
                <a:latin typeface="맑은 고딕"/>
              </a:rPr>
              <a:t>· 일치 구간 길이 800점, 4일 해시 동일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   f079d764609a5603  (6개 비교쌍 완전일치)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C0392B"/>
                </a:solidFill>
                <a:latin typeface="맑은 고딕"/>
              </a:rPr>
              <a:t>· 전체의 26.8% (3,200 / 11,939점)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C0392B"/>
                </a:solidFill>
                <a:latin typeface="맑은 고딕"/>
              </a:rPr>
              <a:t>· 2020-04-03 은 작업일 전체가 이 구간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· 반증 대조: 나머지 구간은 6쌍 전부 불일치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C0392B"/>
                </a:solidFill>
                <a:latin typeface="맑은 고딕"/>
              </a:rPr>
              <a:t>· 전류 0.01kA·전압 0.001V 미세값까지 동일</a:t>
            </a:r>
          </a:p>
          <a:p>
            <a:pPr>
              <a:spcBef>
                <a:spcPts val="1600"/>
              </a:spcBef>
            </a:pPr>
            <a:r>
              <a:rPr sz="1500" b="1">
                <a:solidFill>
                  <a:srgbClr val="C0392B"/>
                </a:solidFill>
                <a:latin typeface="맑은 고딕"/>
              </a:rPr>
              <a:t>→ 모델 학습·평가에서 제외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800 × 4일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반복된 레코드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3391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26.8%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전체 대비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2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100%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04-03 비중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2893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구간 밖 전부 불일치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반증 대조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문제 재정의 — 예측 단위를 라벨 단위에 맞춘다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용접점 단위 이진분류를 강행하지 않는다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3566160"/>
          </a:xfrm>
          <a:prstGeom prst="roundRect">
            <a:avLst/>
          </a:prstGeom>
          <a:solidFill>
            <a:srgbClr val="F4F6F7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/>
            <a:r>
              <a:rPr sz="1800" b="1">
                <a:solidFill>
                  <a:srgbClr val="1F4E79"/>
                </a:solidFill>
                <a:latin typeface="맑은 고딕"/>
              </a:rPr>
              <a:t>과제 A — 작업일 단위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예측 단위   </a:t>
            </a:r>
            <a:r>
              <a:rPr sz="1300" b="1">
                <a:solidFill>
                  <a:srgbClr val="212F3C"/>
                </a:solidFill>
                <a:latin typeface="맑은 고딕"/>
              </a:rPr>
              <a:t>작업일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목표   </a:t>
            </a:r>
            <a:r>
              <a:rPr sz="1300" b="1">
                <a:solidFill>
                  <a:srgbClr val="212F3C"/>
                </a:solidFill>
                <a:latin typeface="맑은 고딕"/>
              </a:rPr>
              <a:t>불량건수 예측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라벨   </a:t>
            </a:r>
            <a:r>
              <a:rPr sz="1300" b="1">
                <a:solidFill>
                  <a:srgbClr val="212F3C"/>
                </a:solidFill>
                <a:latin typeface="맑은 고딕"/>
              </a:rPr>
              <a:t>있음 (8일, 39건)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방법   </a:t>
            </a:r>
            <a:r>
              <a:rPr sz="1300" b="1">
                <a:solidFill>
                  <a:srgbClr val="212F3C"/>
                </a:solidFill>
                <a:latin typeface="맑은 고딕"/>
              </a:rPr>
              <a:t>지도학습 (Poisson 계열)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평가   </a:t>
            </a:r>
            <a:r>
              <a:rPr sz="1300" b="1">
                <a:solidFill>
                  <a:srgbClr val="212F3C"/>
                </a:solidFill>
                <a:latin typeface="맑은 고딕"/>
              </a:rPr>
              <a:t>Leave-One-Out CV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120640" cy="3566160"/>
          </a:xfrm>
          <a:prstGeom prst="roundRect">
            <a:avLst/>
          </a:prstGeom>
          <a:solidFill>
            <a:srgbClr val="F4F6F7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/>
            <a:r>
              <a:rPr sz="1800" b="1">
                <a:solidFill>
                  <a:srgbClr val="C0392B"/>
                </a:solidFill>
                <a:latin typeface="맑은 고딕"/>
              </a:rPr>
              <a:t>과제 B·C — 용접점 단위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예측 단위   </a:t>
            </a:r>
            <a:r>
              <a:rPr sz="1300" b="1">
                <a:solidFill>
                  <a:srgbClr val="212F3C"/>
                </a:solidFill>
                <a:latin typeface="맑은 고딕"/>
              </a:rPr>
              <a:t>용접점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목표   </a:t>
            </a:r>
            <a:r>
              <a:rPr sz="1300" b="1">
                <a:solidFill>
                  <a:srgbClr val="212F3C"/>
                </a:solidFill>
                <a:latin typeface="맑은 고딕"/>
              </a:rPr>
              <a:t>결합관계 이탈 탐지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라벨   </a:t>
            </a:r>
            <a:r>
              <a:rPr sz="1300" b="1">
                <a:solidFill>
                  <a:srgbClr val="212F3C"/>
                </a:solidFill>
                <a:latin typeface="맑은 고딕"/>
              </a:rPr>
              <a:t>없음 / 전류값은 있음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방법   </a:t>
            </a:r>
            <a:r>
              <a:rPr sz="1300" b="1">
                <a:solidFill>
                  <a:srgbClr val="212F3C"/>
                </a:solidFill>
                <a:latin typeface="맑은 고딕"/>
              </a:rPr>
              <a:t>이상탐지 11종 + 회귀 9종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평가   </a:t>
            </a:r>
            <a:r>
              <a:rPr sz="1300" b="1">
                <a:solidFill>
                  <a:srgbClr val="212F3C"/>
                </a:solidFill>
                <a:latin typeface="맑은 고딕"/>
              </a:rPr>
              <a:t>안정일 LODO + 합성이상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212F3C"/>
                </a:solidFill>
                <a:latin typeface="맑은 고딕"/>
              </a:rPr>
              <a:t>모형 11종 × 특징공간 3종 × 합성 이상유형 6종을 동일 조건에서 비교했다</a:t>
            </a:r>
          </a:p>
          <a:p>
            <a:pPr>
              <a:spcBef>
                <a:spcPts val="300"/>
              </a:spcBef>
            </a:pPr>
            <a:r>
              <a:rPr sz="1250" b="0">
                <a:solidFill>
                  <a:srgbClr val="5D6D7E"/>
                </a:solidFill>
                <a:latin typeface="맑은 고딕"/>
              </a:rPr>
              <a:t>최종 kNN 에는 A7 지속반복이상을 추가해 7유형 강건성을 점검했다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평가를 넓히자 결론이 뒤집혔다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한 가지 이상유형으로 고르면 그 유형에 특화된 모형이 뽑힌다</a:t>
            </a:r>
          </a:p>
        </p:txBody>
      </p:sp>
      <p:pic>
        <p:nvPicPr>
          <p:cNvPr id="5" name="Picture 4" descr="f22_benchmar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6766560" cy="3857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828800"/>
            <a:ext cx="4023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212F3C"/>
                </a:solidFill>
                <a:latin typeface="맑은 고딕"/>
              </a:rPr>
              <a:t>평가를 세 축으로 확장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이상유형  1종 → 7종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   현장 고장모드를 각각 모사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특징공간  1종 → 3종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   물리 파생(동저항 R, 입열 E) 포함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모형      6종 → 11종</a:t>
            </a:r>
          </a:p>
          <a:p>
            <a:pPr>
              <a:spcBef>
                <a:spcPts val="1600"/>
              </a:spcBef>
            </a:pPr>
            <a:r>
              <a:rPr sz="1500" b="1">
                <a:solidFill>
                  <a:srgbClr val="C0392B"/>
                </a:solidFill>
                <a:latin typeface="맑은 고딕"/>
              </a:rPr>
              <a:t>결과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0392B"/>
                </a:solidFill>
                <a:latin typeface="맑은 고딕"/>
              </a:rPr>
              <a:t>기존 공간 FS1 최악 유형 0.499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   전압·통전 고장은 원리상 탐지 불가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C0392B"/>
                </a:solidFill>
                <a:latin typeface="맑은 고딕"/>
              </a:rPr>
              <a:t>기존 최종모형 → kNN 거리로 교체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3588410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0.892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kNN 최악 유형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1642" y="5029200"/>
            <a:ext cx="3588410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0.820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기존 결합모형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4644" y="5029200"/>
            <a:ext cx="3588410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0.489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단변량 기준선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최종 모형 — 합성 고장모드 7종 전부에서 안정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kNN 거리 (k는 중첩 교차검증 선택), 물리 파생 특징공간 — 〔합성 이상〕 실제 불량 탐지율이 아니다</a:t>
            </a:r>
          </a:p>
        </p:txBody>
      </p:sp>
      <p:pic>
        <p:nvPicPr>
          <p:cNvPr id="5" name="Picture 4" descr="f25_severit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91640"/>
            <a:ext cx="7863840" cy="43270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0.971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합성 7유형 평균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3391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0.954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최악 유형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8142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0.967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약한 이상(1σ) 평균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92893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0.55%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안정일 오경보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용접점 단위 예측 — 왜 불가능한가. 다섯 겹의 증명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불량 예측은 라벨이 있는 작업일 단위로 수행했다. 불가능한 것은 용접점 단위다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1F4E79"/>
                </a:solidFill>
                <a:latin typeface="맑은 고딕"/>
              </a:rPr>
              <a:t>① 형식적으로 올바른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5564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212F3C"/>
                </a:solidFill>
                <a:latin typeface="맑은 고딕"/>
              </a:rPr>
              <a:t>라벨 비율 학습(LLP) 4종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5564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C0392B"/>
                </a:solidFill>
                <a:latin typeface="맑은 고딕"/>
              </a:rPr>
              <a:t>가방 5개 → 검정의 최소 p가 0.05. 판정 자체가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14016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1F4E79"/>
                </a:solidFill>
                <a:latin typeface="맑은 고딕"/>
              </a:rPr>
              <a:t>② 시뮬레이션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14016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212F3C"/>
                </a:solidFill>
                <a:latin typeface="맑은 고딕"/>
              </a:rPr>
              <a:t>관계를 직접 심고 같은 절차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414016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C0392B"/>
                </a:solidFill>
                <a:latin typeface="맑은 고딕"/>
              </a:rPr>
              <a:t>불량률 0.347% 에서 가방 5→50 늘려도 AUC 0.40~0.52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72384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1F4E79"/>
                </a:solidFill>
                <a:latin typeface="맑은 고딕"/>
              </a:rPr>
              <a:t>③ 외부 실제 라벨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72384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212F3C"/>
                </a:solidFill>
                <a:latin typeface="맑은 고딕"/>
              </a:rPr>
              <a:t>라벨 해상도만 낮춰서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72384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C0392B"/>
                </a:solidFill>
                <a:latin typeface="맑은 고딕"/>
              </a:rPr>
              <a:t>제품 단위 0.958 → 가방 집계 0.627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30752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1F4E79"/>
                </a:solidFill>
                <a:latin typeface="맑은 고딕"/>
              </a:rPr>
              <a:t>④ 실제 불량 39건과 대조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73075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212F3C"/>
                </a:solidFill>
                <a:latin typeface="맑은 고딕"/>
              </a:rPr>
              <a:t>6종 지표 × 순열검정 20,000회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730752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C0392B"/>
                </a:solidFill>
                <a:latin typeface="맑은 고딕"/>
              </a:rPr>
              <a:t>전부 비유의 (최소 p 0.651). 단 부호는 4개 모두 양(+)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1F4E79"/>
                </a:solidFill>
                <a:latin typeface="맑은 고딕"/>
              </a:rPr>
              <a:t>⑤ 전가 라벨 이진분류 강행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389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212F3C"/>
                </a:solidFill>
                <a:latin typeface="맑은 고딕"/>
              </a:rPr>
              <a:t>작업일 그룹 분할로 올바르게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3891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C0392B"/>
                </a:solidFill>
                <a:latin typeface="맑은 고딕"/>
              </a:rPr>
              <a:t>AUC 0.305 — 무작위보다 나쁨. 0.586 은 같은 작업일 누수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F3C"/>
                </a:solidFill>
                <a:latin typeface="맑은 고딕"/>
              </a:rPr>
              <a:t>단, "관계가 없다"고는 말하지 않는다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D6D7E"/>
                </a:solidFill>
                <a:latin typeface="맑은 고딕"/>
              </a:rPr>
              <a:t>동등성 검정(TOST)에서 기각 가능 최소 δ = 0.79~0.88 → 효과의 유무를 양방향 모두 판정 불가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C0392B"/>
                </a:solidFill>
                <a:latin typeface="맑은 고딕"/>
              </a:rPr>
              <a:t>→ 그래서 제언 1순위는 '작업일을 더 모으기'가 아니라 '용접점 단위 검사 기록'이다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외부 검증 — 합성 이상이 아닌 실제 라벨에서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용접기 분석에서 확정한 설정을 튜닝 없이 그대로 적용 (부록 A)</a:t>
            </a:r>
          </a:p>
        </p:txBody>
      </p:sp>
      <p:pic>
        <p:nvPicPr>
          <p:cNvPr id="5" name="Picture 4" descr="f36_external_p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400800" cy="23451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82880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KAMP 공개 데이터 (정상 20,000 / 이상 600)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212F3C"/>
                </a:solidFill>
                <a:latin typeface="맑은 고딕"/>
              </a:rPr>
              <a:t>실제 라벨 기준 ROC-AUC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1F4E79"/>
                </a:solidFill>
                <a:latin typeface="맑은 고딕"/>
              </a:rPr>
              <a:t>0.899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212F3C"/>
                </a:solidFill>
                <a:latin typeface="맑은 고딕"/>
              </a:rPr>
              <a:t>모형 순위도 재현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F4E79"/>
                </a:solidFill>
                <a:latin typeface="맑은 고딕"/>
              </a:rPr>
              <a:t>kNN 1위 / 9개 모형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212F3C"/>
                </a:solidFill>
                <a:latin typeface="맑은 고딕"/>
              </a:rPr>
              <a:t>컨포멀 FPR 제어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F4E79"/>
                </a:solidFill>
                <a:latin typeface="맑은 고딕"/>
              </a:rPr>
              <a:t>목표 1% → 실제 0.175%  충족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용접기에서 보장이 깨진 원인을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드리프트로 진단한 것이 확인됨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0.899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실제 라벨 ROC-AUC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3391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1위 / 9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모형 순위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2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없음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튜닝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2893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α=1%에서 탐지율 43%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한계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지문 요구 ③ — 모델이 제안하는 안정 공정조건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서로 다른 두 산출 경로가 모순 없이 겹친다 (표본은 공유 — 독립 검증 아님)</a:t>
            </a:r>
          </a:p>
        </p:txBody>
      </p:sp>
      <p:pic>
        <p:nvPicPr>
          <p:cNvPr id="5" name="Picture 4" descr="f34_model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589520" cy="22433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92024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212F3C"/>
                </a:solidFill>
                <a:latin typeface="맑은 고딕"/>
              </a:rPr>
              <a:t>2단 구조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F4E79"/>
                </a:solidFill>
                <a:latin typeface="맑은 고딕"/>
              </a:rPr>
              <a:t>내측 — 운영 목표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F3C"/>
                </a:solidFill>
                <a:latin typeface="맑은 고딕"/>
              </a:rPr>
              <a:t>가압력 2.323~2.356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안정일 I-MR 관리한계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C0392B"/>
                </a:solidFill>
                <a:latin typeface="맑은 고딕"/>
              </a:rPr>
              <a:t>외측 — 이상 판정 경계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F3C"/>
                </a:solidFill>
                <a:latin typeface="맑은 고딕"/>
              </a:rPr>
              <a:t>가압력 2.260~2.383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이상탐지 모형 ∩ 지지영역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F4E79"/>
                </a:solidFill>
                <a:latin typeface="맑은 고딕"/>
              </a:rPr>
              <a:t>외측이 내측을 완전히 포함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자연변동과 모델 출력이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같은 영역을 지목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C0392B"/>
                </a:solidFill>
                <a:latin typeface="맑은 고딕"/>
              </a:rPr>
              <a:t>단, 같은 안정일 5일 표본을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C0392B"/>
                </a:solidFill>
                <a:latin typeface="맑은 고딕"/>
              </a:rPr>
              <a:t>공유 → 방법 간 일관성 확인</a:t>
            </a:r>
          </a:p>
          <a:p>
            <a:pPr>
              <a:spcBef>
                <a:spcPts val="1000"/>
              </a:spcBef>
            </a:pPr>
            <a:r>
              <a:rPr sz="1100" b="0">
                <a:solidFill>
                  <a:srgbClr val="C0392B"/>
                </a:solidFill>
                <a:latin typeface="맑은 고딕"/>
              </a:rPr>
              <a:t>검증 안 된 LLP 구성요소는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C0392B"/>
                </a:solidFill>
                <a:latin typeface="맑은 고딕"/>
              </a:rPr>
              <a:t>최종 권고에서 제외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현장 활용 — 정교한 모형이 단순한 관리도에 졌다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두 방법은 겨루는 관계가 아니라 다른 문제를 푼다</a:t>
            </a:r>
          </a:p>
        </p:txBody>
      </p:sp>
      <p:pic>
        <p:nvPicPr>
          <p:cNvPr id="5" name="Picture 4" descr="f29_day_contro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400800" cy="30609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78308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212F3C"/>
                </a:solidFill>
                <a:latin typeface="맑은 고딕"/>
              </a:rPr>
              <a:t>공정 이동 3일 탐지</a:t>
            </a:r>
          </a:p>
          <a:p>
            <a:pPr>
              <a:spcBef>
                <a:spcPts val="1000"/>
              </a:spcBef>
            </a:pPr>
            <a:r>
              <a:rPr sz="1250" b="0">
                <a:solidFill>
                  <a:srgbClr val="212F3C"/>
                </a:solidFill>
                <a:latin typeface="맑은 고딕"/>
              </a:rPr>
              <a:t>kNN + 컨포멀 + CUSUM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C0392B"/>
                </a:solidFill>
                <a:latin typeface="맑은 고딕"/>
              </a:rPr>
              <a:t>   0/3  (15개 작동점 전부)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212F3C"/>
                </a:solidFill>
                <a:latin typeface="맑은 고딕"/>
              </a:rPr>
              <a:t>가압력 중앙값 2σ 관리도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1F4E79"/>
                </a:solidFill>
                <a:latin typeface="맑은 고딕"/>
              </a:rPr>
              <a:t>   3/3,  오경보 0/5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1F4E79"/>
                </a:solidFill>
                <a:latin typeface="맑은 고딕"/>
              </a:rPr>
              <a:t>   정확 순열검정 p = 0.0179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5D6D7E"/>
                </a:solidFill>
                <a:latin typeface="맑은 고딕"/>
              </a:rPr>
              <a:t>   (C(8,3)=56 배열 전수 열거)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212F3C"/>
                </a:solidFill>
                <a:latin typeface="맑은 고딕"/>
              </a:rPr>
              <a:t>평가 대상을 밝힌다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212F3C"/>
                </a:solidFill>
                <a:latin typeface="맑은 고딕"/>
              </a:rPr>
              <a:t>03-25 · 03-31 · 03-27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C0392B"/>
                </a:solidFill>
                <a:latin typeface="맑은 고딕"/>
              </a:rPr>
              <a:t>03-27 은 불량 라벨 없는 예측대상일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C0392B"/>
                </a:solidFill>
                <a:latin typeface="맑은 고딕"/>
              </a:rPr>
              <a:t>04-03 은 복제 100% → 평가 제외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C0392B"/>
                </a:solidFill>
                <a:latin typeface="맑은 고딕"/>
              </a:rPr>
              <a:t>→ 공정 이동 탐지이며,</a:t>
            </a:r>
          </a:p>
          <a:p>
            <a:pPr>
              <a:spcBef>
                <a:spcPts val="100"/>
              </a:spcBef>
            </a:pPr>
            <a:r>
              <a:rPr sz="1200" b="1">
                <a:solidFill>
                  <a:srgbClr val="C0392B"/>
                </a:solidFill>
                <a:latin typeface="맑은 고딕"/>
              </a:rPr>
              <a:t>   불량 발생 탐지 근거는 없다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가압력 2σ 관리도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일 단위 경보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3391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p = 0.0179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작업일 단위 검정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2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시범 운용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적용 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2893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최소 25일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필요 참조일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오류분석 — 작동하는 조건과 실패하는 조건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반례를 숨기지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맑은 고딕"/>
              </a:rPr>
              <a:t>과제 A 작동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212F3C"/>
                </a:solidFill>
                <a:latin typeface="맑은 고딕"/>
              </a:rPr>
              <a:t>불량건수 중심 수준 추정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87451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D6D7E"/>
                </a:solidFill>
                <a:latin typeface="맑은 고딕"/>
              </a:rPr>
              <a:t>95% 예측구간 포함률 100% (8/8일)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24327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C0392B"/>
                </a:solidFill>
                <a:latin typeface="맑은 고딕"/>
              </a:rPr>
              <a:t>과제 A 실패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24327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212F3C"/>
                </a:solidFill>
                <a:latin typeface="맑은 고딕"/>
              </a:rPr>
              <a:t>공정조건으로부터의 예측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624327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D6D7E"/>
                </a:solidFill>
                <a:latin typeface="맑은 고딕"/>
              </a:rPr>
              <a:t>전 변수가 기준선 대비 +11.2% ~ +42.6% 악화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74135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맑은 고딕"/>
              </a:rPr>
              <a:t>과제 B 작동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37413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212F3C"/>
                </a:solidFill>
                <a:latin typeface="맑은 고딕"/>
              </a:rPr>
              <a:t>강한 결합 이탈 (k ≥ 3σ)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374135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D6D7E"/>
                </a:solidFill>
                <a:latin typeface="맑은 고딕"/>
              </a:rPr>
              <a:t>탐지율 75.9%, AUC 0.911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23943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C0392B"/>
                </a:solidFill>
                <a:latin typeface="맑은 고딕"/>
              </a:rPr>
              <a:t>과제 B 실패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12394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212F3C"/>
                </a:solidFill>
                <a:latin typeface="맑은 고딕"/>
              </a:rPr>
              <a:t>약한 이탈 (k = 1σ)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123943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D6D7E"/>
                </a:solidFill>
                <a:latin typeface="맑은 고딕"/>
              </a:rPr>
              <a:t>탐지율 6.3% — 초기 징후는 대부분 놓침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7375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C0392B"/>
                </a:solidFill>
                <a:latin typeface="맑은 고딕"/>
              </a:rPr>
              <a:t>반례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87375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212F3C"/>
                </a:solidFill>
                <a:latin typeface="맑은 고딕"/>
              </a:rPr>
              <a:t>2020-03-26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873751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D6D7E"/>
                </a:solidFill>
                <a:latin typeface="맑은 고딕"/>
              </a:rPr>
              <a:t>공정조건 최상인데 불량률 최고 (7.0건/1000점)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212F3C"/>
                </a:solidFill>
                <a:latin typeface="맑은 고딕"/>
              </a:rPr>
              <a:t>2020-03-26 은 모든 공정조건 지표가 가장 안정적인 날이면서 불량률이 가장 높다 — 공정조건 기반 모델이 원리적으로 설명할 수 없는 사례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차별성 — 알고리즘이 아니라 검증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각 항목이 어느 결과에 기여했는가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맑은 고딕"/>
              </a:rPr>
              <a:t>1. 라벨 해상도에 맞춘 문제 재정의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828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D6D7E"/>
                </a:solidFill>
                <a:latin typeface="맑은 고딕"/>
              </a:rPr>
              <a:t>강행했다면 올바른 검증에서 AUC 0.305 — 무작위보다 나쁜 모형을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맑은 고딕"/>
              </a:rPr>
              <a:t>2. 평가설계 결함의 자체 발견과 수정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514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D6D7E"/>
                </a:solidFill>
                <a:latin typeface="맑은 고딕"/>
              </a:rPr>
              <a:t>단변량 기준선 AUC 100% → 0.498. 평가설계가 모델 선택을 뒤집음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맑은 고딕"/>
              </a:rPr>
              <a:t>3. 공정 구조를 명시적으로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200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D6D7E"/>
                </a:solidFill>
                <a:latin typeface="맑은 고딕"/>
              </a:rPr>
              <a:t>결합관계를 회귀로 학습(R² 0.509). AUC 0.498 → 0.930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맑은 고딕"/>
              </a:rPr>
              <a:t>4. 실패조건이 다른 두 모형을 결합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886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D6D7E"/>
                </a:solidFill>
                <a:latin typeface="맑은 고딕"/>
              </a:rPr>
              <a:t>평균 동률(0.914)이나 약점이 상보적 → 결합 0.930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맑은 고딕"/>
              </a:rPr>
              <a:t>5. 가설을 세우고 기각한 과정 기록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572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D6D7E"/>
                </a:solidFill>
                <a:latin typeface="맑은 고딕"/>
              </a:rPr>
              <a:t>EWMA 조기탐지 가설. 1.5σ만 유리 → 전 구간 제시 후 기각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맑은 고딕"/>
              </a:rPr>
              <a:t>6. 귀무 결과의 정량적 해석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5257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D6D7E"/>
                </a:solidFill>
                <a:latin typeface="맑은 고딕"/>
              </a:rPr>
              <a:t>순열검정 + 검정력 분석 → 결론이 '중단'이 아니라 '33일 추가 수집'으로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맑은 고딕"/>
              </a:rPr>
              <a:t>7. 데이터 무결성 검증의 분석 편입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943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D6D7E"/>
                </a:solidFill>
                <a:latin typeface="맑은 고딕"/>
              </a:rPr>
              <a:t>혼입률-불량 무관 결과를 설명. 현업 적재 점검 규칙으로 환원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629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맑은 고딕"/>
              </a:rPr>
              <a:t>8. 검증 가능/불가능의 명시적 분리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6629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D6D7E"/>
                </a:solidFill>
                <a:latin typeface="맑은 고딕"/>
              </a:rPr>
              <a:t>제시하지 않은 것마다 근거를 명기 (검출률·비용기반 임계값 등)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212F3C"/>
                </a:solidFill>
                <a:latin typeface="맑은 고딕"/>
              </a:rPr>
              <a:t>제공 데이터는 용접점 단위 지도학습을 허용하지 않는다.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5D6D7E"/>
                </a:solidFill>
                <a:latin typeface="맑은 고딕"/>
              </a:rPr>
              <a:t>예측 단위를 라벨 단위에 맞추어 과제를 재정의하고, 두 층 각각에서 베이스라인을 포함한 복수 모델을 동일 조건에서 비교했다.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5D6D7E"/>
                </a:solidFill>
                <a:latin typeface="맑은 고딕"/>
              </a:rPr>
              <a:t>공정조건으로 일별 불량건수를 설명할 수 없다는 결과는, 검정력 분석을 통해 '관계 없음'이 아니라 '현재 표본으로는 검출 불가'임을 확인했다.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C0392B"/>
                </a:solidFill>
                <a:latin typeface="맑은 고딕"/>
              </a:rPr>
              <a:t>제시한 수치는 전부 재현 가능하며, 제시하지 않은 것에는 각각 근거가 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394960"/>
            <a:ext cx="2650159" cy="109728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LOO-MAE 1.536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과제 A 최종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3391" y="5394960"/>
            <a:ext cx="2650159" cy="109728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합성 AUC 0.971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과제 B 최종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8142" y="5394960"/>
            <a:ext cx="2650159" cy="109728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4.88건 [1, 10]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03-27 예측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92893" y="5394960"/>
            <a:ext cx="2650159" cy="109728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용접점 단위 검사기록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추가 수집 제언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맑은 고딕"/>
              </a:rPr>
              <a:t>이하 백업 슬라이드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질의응답 시 참조. 본 발표는 앞 장까지입니다.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과제 A — 작업일 불량건수 예측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공정조건을 넣은 모형이 기준선을 넘지 못한다</a:t>
            </a:r>
          </a:p>
        </p:txBody>
      </p:sp>
      <p:pic>
        <p:nvPicPr>
          <p:cNvPr id="5" name="Picture 4" descr="f13_taskA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10332720" cy="35967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1.536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M0 기준선 LOO-MAE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3391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+11.5%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M2 Poisson GLM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8142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+11.2%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M3 음이항 GLM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92893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+42.6%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M1 비례 모형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종속변수의 성격 — 불량건수는 생산량을 따라가지 않는다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AIC 기준 상수 모형이 비례 모형을 이긴다 (ΔAIC = 3.05)</a:t>
            </a:r>
          </a:p>
        </p:txBody>
      </p:sp>
      <p:pic>
        <p:nvPicPr>
          <p:cNvPr id="5" name="Picture 4" descr="f6_scaling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10332720" cy="3705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15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212F3C"/>
                </a:solidFill>
                <a:latin typeface="맑은 고딕"/>
              </a:rPr>
              <a:t>→ result 의 defect 는 전수검사 건수가 아니라 표본검사 적발건수에 가깝다. 종속변수를 불량건수로 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과제 B — 1차 설계의 결함을 발견하고 수정했다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평가설계가 모델 선택을 뒤집은 사례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32004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/>
            <a:r>
              <a:rPr sz="1700" b="1">
                <a:solidFill>
                  <a:srgbClr val="5D6D7E"/>
                </a:solidFill>
                <a:latin typeface="맑은 고딕"/>
              </a:rPr>
              <a:t>1차 설계 (폐기)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복제 구간을 '이상'의 프록시로 사용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가압력 단변량 기준선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212F3C"/>
                </a:solidFill>
                <a:latin typeface="맑은 고딕"/>
              </a:rPr>
              <a:t>탐지율 100% / 오경보율 0.03%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모든 다변량 모형을 압도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C0392B"/>
                </a:solidFill>
                <a:latin typeface="맑은 고딕"/>
              </a:rPr>
              <a:t>문제: 프록시가 '가압력 높은 점'과 동일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C0392B"/>
                </a:solidFill>
                <a:latin typeface="맑은 고딕"/>
              </a:rPr>
              <a:t>→ 성능이 아니라 프록시 정의를 측정한 순환 평가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3200400"/>
          </a:xfrm>
          <a:prstGeom prst="roundRect">
            <a:avLst/>
          </a:prstGeom>
          <a:solidFill>
            <a:srgbClr val="F4F6F7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/>
            <a:r>
              <a:rPr sz="1700" b="1">
                <a:solidFill>
                  <a:srgbClr val="C0392B"/>
                </a:solidFill>
                <a:latin typeface="맑은 고딕"/>
              </a:rPr>
              <a:t>재설계 (채택)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정상 운전의 가압력–전류 결합(ρ=−0.735)을 기준으로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결합이 깨진 점을 이상으로 정의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합성 이상 주입: 전류만 k·σ 이동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D6D7E"/>
                </a:solidFill>
                <a:latin typeface="맑은 고딕"/>
              </a:rPr>
              <a:t>가압력은 건드리지 않는다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같은 가압력 단변량 기준선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C0392B"/>
                </a:solidFill>
                <a:latin typeface="맑은 고딕"/>
              </a:rPr>
              <a:t>ROC-AUC 0.498 — 무작위 수준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212F3C"/>
                </a:solidFill>
                <a:latin typeface="맑은 고딕"/>
              </a:rPr>
              <a:t>1차 설계였다면 최종모델로 선정되었을 모형이, 올바른 설계에서는 무작위 추측 수준이었다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과제 B — 결합관계 이탈 탐지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단변량 임계 규칙(점선)은 원리상 탐지하지 못한다</a:t>
            </a:r>
          </a:p>
        </p:txBody>
      </p:sp>
      <p:pic>
        <p:nvPicPr>
          <p:cNvPr id="5" name="Picture 4" descr="f15_coupling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15600" cy="36111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AUC 0.498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M0 가압력 단변량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3391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AUC 0.615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M1 전류 단변량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8142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AUC 0.911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M3 Isolation Forest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92893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1.20%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오경보율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C0392B"/>
                </a:solidFill>
                <a:latin typeface="맑은 고딕"/>
              </a:rPr>
              <a:t>남은 약점: 약한 이탈(1σ) 탐지율 6.3% → 과제 C 에서 정면으로 다룬다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과제 C — 공정 관계를 명시적으로 학습한다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범용 이상탐지기는 공정 구조를 모른다. 이 설비에서는 알고 있다</a:t>
            </a:r>
          </a:p>
        </p:txBody>
      </p:sp>
      <p:pic>
        <p:nvPicPr>
          <p:cNvPr id="5" name="Picture 4" descr="f18_normal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698480" cy="36739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0.509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LODO R²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3391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0.050 kA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RMSE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8142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9종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비교 모형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92893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−0.755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일중위치 추가 시 최악일 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212F3C"/>
                </a:solidFill>
                <a:latin typeface="맑은 고딕"/>
              </a:rPr>
              <a:t>일중 드리프트는 9/9일 유의하지만 방향이 날마다 뒤바뀐다 — 유의한 변수가 일반화에는 해로울 수 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임계값 문제 — 보장의 전제를 검증했다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컨포멀의 오경보율 보장은 교환가능성을 전제한다. 이 공정에는 드리프트가 있다</a:t>
            </a:r>
          </a:p>
        </p:txBody>
      </p:sp>
      <p:pic>
        <p:nvPicPr>
          <p:cNvPr id="5" name="Picture 4" descr="f26_conf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400800" cy="22913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82880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F3C"/>
                </a:solidFill>
                <a:latin typeface="맑은 고딕"/>
              </a:rPr>
              <a:t>목표 1% 대비 실제 오경보율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C0392B"/>
                </a:solidFill>
                <a:latin typeface="맑은 고딕"/>
              </a:rPr>
              <a:t>교차일 교정        1.47배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C0392B"/>
                </a:solidFill>
                <a:latin typeface="맑은 고딕"/>
              </a:rPr>
              <a:t>당일 순차 교정     8.71배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당일 무작위 교정   0.28배  충족</a:t>
            </a:r>
          </a:p>
          <a:p>
            <a:pPr>
              <a:spcBef>
                <a:spcPts val="12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무작위 분할은 정의상 교환가능 —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구현이 아니라 전제의 문제임을 확인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C0392B"/>
                </a:solidFill>
                <a:latin typeface="맑은 고딕"/>
              </a:rPr>
              <a:t>운영상의 함의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12F3C"/>
                </a:solidFill>
                <a:latin typeface="맑은 고딕"/>
              </a:rPr>
              <a:t>유효한 방식은 미래 점이 필요해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F3C"/>
                </a:solidFill>
                <a:latin typeface="맑은 고딕"/>
              </a:rPr>
              <a:t>실시간에 쓸 수 없다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C0392B"/>
                </a:solidFill>
                <a:latin typeface="맑은 고딕"/>
              </a:rPr>
              <a:t>→ 팽창계수 보정으로 근사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12F3C"/>
                </a:solidFill>
                <a:latin typeface="맑은 고딕"/>
              </a:rPr>
              <a:t>'보장'이 아니라 '근사'로 보고한다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합성 이상 0.971 — 그러나 실제 불량과의 연결은 검출되지 않았다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숨기지 않고 함께 제시한다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212F3C"/>
                </a:solidFill>
                <a:latin typeface="맑은 고딕"/>
              </a:rPr>
              <a:t>수행한 것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최종 모형 출력을 작업일로 집계해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실제 불량 39건과 대조 (순열검정 20,000회)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복제 구간 3,200점 전부 제외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04-03 은 전체가 복제 → 표본 8일에서 7일로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C0392B"/>
                </a:solidFill>
                <a:latin typeface="맑은 고딕"/>
              </a:rPr>
              <a:t>결과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C0392B"/>
                </a:solidFill>
                <a:latin typeface="맑은 고딕"/>
              </a:rPr>
              <a:t>유의한 지표 0/5,  최소 순열 p = 0.651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불량건수 예측도 기준선 초과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1F4E79"/>
                </a:solidFill>
                <a:latin typeface="맑은 고딕"/>
              </a:rPr>
              <a:t>유일하게 일관된 것 — 방향성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이상점수 평균        양(+)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이상점수 p95         양(+)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플래그율 p01         양(+)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F3C"/>
                </a:solidFill>
                <a:latin typeface="맑은 고딕"/>
              </a:rPr>
              <a:t>플래그율 p05         양(+)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1F4E79"/>
                </a:solidFill>
                <a:latin typeface="맑은 고딕"/>
              </a:rPr>
              <a:t>4개 지표 전부 부호 일치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"이상이 많은 날에 불량이 많다"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D6D7E"/>
                </a:solidFill>
                <a:latin typeface="맑은 고딕"/>
              </a:rPr>
              <a:t>방향은 일관되나 크기가 우연과 구분되지 않는다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C0392B"/>
                </a:solidFill>
                <a:latin typeface="맑은 고딕"/>
              </a:rPr>
              <a:t>→ '연결이 없다'가 아니라 '검출할 표본이 없다'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왜 실패하는가 — '관계 없음'과 '검출 불가'는 다르다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몬테카를로 검정력 분석으로 둘을 구분했다</a:t>
            </a:r>
          </a:p>
        </p:txBody>
      </p:sp>
      <p:pic>
        <p:nvPicPr>
          <p:cNvPr id="5" name="Picture 4" descr="f17_pow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10332720" cy="361493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8 작업일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현재 표본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3391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|ρ| ≥ 0.87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80% 검정력 검출 하한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8142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C0392B"/>
                </a:solidFill>
                <a:latin typeface="맑은 고딕"/>
              </a:rPr>
              <a:t>0.558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관측된 최대 상관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92893" y="5029200"/>
            <a:ext cx="2650159" cy="123444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/>
            <a:r>
              <a:rPr sz="2200" b="1">
                <a:solidFill>
                  <a:srgbClr val="1F4E79"/>
                </a:solidFill>
                <a:latin typeface="맑은 고딕"/>
              </a:rPr>
              <a:t>33 작업일</a:t>
            </a:r>
          </a:p>
          <a:p>
            <a:pPr algn="ctr"/>
            <a:r>
              <a:rPr sz="1100" b="0">
                <a:solidFill>
                  <a:srgbClr val="5D6D7E"/>
                </a:solidFill>
                <a:latin typeface="맑은 고딕"/>
              </a:rPr>
              <a:t>ρ=0.5 검출 필요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F4E79"/>
                </a:solidFill>
                <a:latin typeface="맑은 고딕"/>
              </a:rPr>
              <a:t>현장 활용방안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4415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2144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D6D7E"/>
                </a:solidFill>
                <a:latin typeface="맑은 고딕"/>
              </a:rPr>
              <a:t>모델 출력이 어떤 조치로 이어지는가</a:t>
            </a:r>
          </a:p>
        </p:txBody>
      </p:sp>
      <p:pic>
        <p:nvPicPr>
          <p:cNvPr id="5" name="Picture 4" descr="f9_stable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583680" cy="18310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1F4E79"/>
                </a:solidFill>
                <a:latin typeface="맑은 고딕"/>
              </a:rPr>
              <a:t>① 공정 관리범위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12F3C"/>
                </a:solidFill>
                <a:latin typeface="맑은 고딕"/>
              </a:rPr>
              <a:t>가압력 2.323~2.356 bar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12F3C"/>
                </a:solidFill>
                <a:latin typeface="맑은 고딕"/>
              </a:rPr>
              <a:t>전류 14.642~14.703 kA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Cp 28.8~331.5 → 사양은 관리에 무의미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1F4E79"/>
                </a:solidFill>
                <a:latin typeface="맑은 고딕"/>
              </a:rPr>
              <a:t>② 혼입 모니터링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12F3C"/>
                </a:solidFill>
                <a:latin typeface="맑은 고딕"/>
              </a:rPr>
              <a:t>가압력 3bar 초과 비율, 관리한계 1%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적재 경로 건전성 점검도 겸한다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1F4E79"/>
                </a:solidFill>
                <a:latin typeface="맑은 고딕"/>
              </a:rPr>
              <a:t>③ 재검사 기준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12F3C"/>
                </a:solidFill>
                <a:latin typeface="맑은 고딕"/>
              </a:rPr>
              <a:t>임계값 0.95 → 일평균 16점, 최대 37점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D6D7E"/>
                </a:solidFill>
                <a:latin typeface="맑은 고딕"/>
              </a:rPr>
              <a:t>검출률은 제시하지 않는다 (정답 부재)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C0392B"/>
                </a:solidFill>
                <a:latin typeface="맑은 고딕"/>
              </a:rPr>
              <a:t>④ 데이터 수집 개선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0392B"/>
                </a:solidFill>
                <a:latin typeface="맑은 고딕"/>
              </a:rPr>
              <a:t>용접점 단위 라벨 + 33 작업일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